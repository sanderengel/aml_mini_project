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93"/>
    <p:restoredTop sz="94673"/>
  </p:normalViewPr>
  <p:slideViewPr>
    <p:cSldViewPr snapToGrid="0">
      <p:cViewPr varScale="1">
        <p:scale>
          <a:sx n="95" d="100"/>
          <a:sy n="95" d="100"/>
        </p:scale>
        <p:origin x="2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8CFE-7F99-12E5-D513-F99BBFDC4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29F01-6326-AE7A-CDA2-15FD3B086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08C1D-5164-7197-C071-A99AC8059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B8DCD-CAD4-E4A8-1C27-8FE1BE1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F2DF2-BD74-25FF-DD46-58713BE0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CA7D-21FB-0E48-AC59-70D45B15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A402-2F7B-1B6C-4D40-8154EF2F7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61BC8-8DCC-50F2-D7C7-4659AE725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95E27-3FBF-9EDA-D0D1-1086D497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A20A7-D0E4-F044-3FDB-32BBF6D0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0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B657-D5EB-14FA-C2E2-05469BB97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FBDB0-C3D7-4869-8D68-723128F65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0666-A9B1-9ECA-4AEC-C7A5837B6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2AFB3-9765-4231-1DB2-52357C72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0E4FB-72F2-5F4B-E999-CB6AAC208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95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8AE1E-B13A-0EB5-292B-16D91BEA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835EC-59DA-D7C5-2FBA-1D90AB631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9A115-7055-2F5C-2530-E00EC3430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27B11-116B-FB23-3EB3-51B14043D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509EA-81E3-AA67-ECB4-4E065080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3808C-8EA8-7B82-DE2E-B23E01AD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9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4663-6D0E-86DD-3BE6-71085E74F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EFD48-7AB1-EE74-D97A-888658D34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29BA2-65C4-CD3C-4486-545EDA3E2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FD2621-717F-C88F-B9A7-7FC843825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0712C-6532-BE52-0676-B2C5083E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F15C2-A957-3A63-9D3C-5CCEA629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1B4AF8-9DC0-5DE5-83B9-29F4B035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B4121A-3ECB-622D-FDD8-D9E24648F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6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1C2A-6B9A-B059-A03B-B368F7BB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A3F1B-2268-AE3F-8CE5-F802EBC9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D6F30-7180-7970-0F4E-FC07AA4E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5838-D303-26F9-31DF-AC81AD2B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1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24587-DF94-3BC3-2F60-C38566B4B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73CBE-47A3-55F2-DBAA-AD8505A1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76B36-3292-68A5-077A-552D7539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94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1BE8-1893-7396-CDF8-F7CC4EF09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C8F40-9B51-EE1D-743C-BBE81BA7B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B3979-8F6B-6B29-0ECB-D36E7B0F1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53EBE-A1B8-3627-6400-041259612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9F9-790B-63BD-2ACE-5883B18D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93ED6-B159-7530-B660-59CFDEFE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9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47B5-54DC-D669-9BB3-8BD88B1C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96E20-DC3A-D288-0AF4-4E3F82D3B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DE697-D7D6-13F3-DA5B-8D45E99AA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D6477-9B10-64BC-FA1B-E74AA9035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E3683-C3D9-A744-E936-BD5D0EF8B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87191-0074-18E9-D122-97AB99F2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3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9609-576D-ECC9-834E-F6EDD113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49704-D575-D2A4-790F-5D615A74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1E2DC-9DB8-5A6E-CDB2-26664889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919FF-7968-E47B-204C-E3801437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3CA3E-D77B-208F-1D81-EDFAC416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25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A88F14-3F98-95DF-F0B8-154382E5A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561DE-EFC2-0541-0CB8-44B366202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0AE16-245B-4FEF-26C6-E12DEDBFE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173E4-106A-C495-765D-F9DA1523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0F6B0-2D38-CBA1-DC8C-4B52A668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5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E4B14-4AA5-8912-286F-A07D183F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FCD15-F0E8-1DA1-7B2E-FC9526BD9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7CD5B-9A42-F638-E3A8-2538B63677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7AC18-8819-D741-BEFA-D236A7D9FF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38B99-6F56-AB8A-2B8D-FF47FBDCA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BC80E-770E-9B53-29EA-44F2BB7C7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0E4BC-27DF-8A44-9D8B-31CCB3CA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59AB-48FA-C2EE-8545-92BFC43D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6558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Helvetica" pitchFamily="2" charset="0"/>
              </a:rPr>
              <a:t>Combatting Driver-Specific Overfitting </a:t>
            </a:r>
            <a:br>
              <a:rPr lang="en-US" sz="3200" b="1" dirty="0">
                <a:latin typeface="Helvetica" pitchFamily="2" charset="0"/>
              </a:rPr>
            </a:br>
            <a:r>
              <a:rPr lang="en-US" sz="3200" b="1" dirty="0">
                <a:latin typeface="Helvetica" pitchFamily="2" charset="0"/>
              </a:rPr>
              <a:t>with Image Augmentation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145E00-FC92-E5A3-92BF-84F4F4B194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3699" y="1513390"/>
            <a:ext cx="10944602" cy="383121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BD547-0423-D341-BA81-F3ABFB432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4052" y="5539551"/>
            <a:ext cx="9663896" cy="1130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Helvetica" pitchFamily="2" charset="0"/>
              </a:rPr>
              <a:t>22,424 images, </a:t>
            </a:r>
            <a:r>
              <a:rPr lang="en-US" sz="2000" i="1" dirty="0">
                <a:latin typeface="Helvetica" pitchFamily="2" charset="0"/>
              </a:rPr>
              <a:t>only 26 individual drivers</a:t>
            </a:r>
          </a:p>
          <a:p>
            <a:pPr marL="0" indent="0">
              <a:buNone/>
            </a:pPr>
            <a:r>
              <a:rPr lang="en-US" sz="2000" dirty="0">
                <a:latin typeface="Helvetica" pitchFamily="2" charset="0"/>
              </a:rPr>
              <a:t>Model </a:t>
            </a:r>
            <a:r>
              <a:rPr lang="en-US" sz="2000" b="1" dirty="0">
                <a:latin typeface="Helvetica" pitchFamily="2" charset="0"/>
              </a:rPr>
              <a:t>memorizes environments</a:t>
            </a:r>
            <a:r>
              <a:rPr lang="en-US" sz="2000" dirty="0">
                <a:latin typeface="Helvetica" pitchFamily="2" charset="0"/>
              </a:rPr>
              <a:t> instead of learning activity signal</a:t>
            </a:r>
          </a:p>
        </p:txBody>
      </p:sp>
    </p:spTree>
    <p:extLst>
      <p:ext uri="{BB962C8B-B14F-4D97-AF65-F5344CB8AC3E}">
        <p14:creationId xmlns:p14="http://schemas.microsoft.com/office/powerpoint/2010/main" val="3335870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364FE-BC0A-1BA4-9B86-96D5D7E2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819D-4BE2-2E95-7EAB-5B9F89EC1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194"/>
            <a:ext cx="52578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Helvetica" pitchFamily="2" charset="0"/>
              </a:rPr>
              <a:t>Our 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A15FB3-FDE8-63A9-D0C5-F4FC997BA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341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ResNet18 model fine-tuned end-to-end, 5-fold grouped CV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i="1" dirty="0"/>
              <a:t>One-at-a-time</a:t>
            </a:r>
            <a:r>
              <a:rPr lang="en-US" sz="2000" dirty="0"/>
              <a:t> setup with </a:t>
            </a:r>
            <a:br>
              <a:rPr lang="en-US" sz="2000" dirty="0"/>
            </a:br>
            <a:r>
              <a:rPr lang="en-US" sz="2000" dirty="0"/>
              <a:t>7 augmentation configurations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1DD606-DA8D-B3DF-0157-E0D710C2B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0194"/>
            <a:ext cx="5526946" cy="611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55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923C-3AFC-66FC-5E4B-F2E282F6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CC82-AA18-61C5-3000-B38A20C3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194"/>
            <a:ext cx="52578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Helvetica" pitchFamily="2" charset="0"/>
              </a:rPr>
              <a:t>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2BDB10-6F44-F3D8-6F68-DC02BD9A4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01145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Helvetica" pitchFamily="2" charset="0"/>
              </a:rPr>
              <a:t>Random erasing </a:t>
            </a:r>
            <a:r>
              <a:rPr lang="en-US" sz="2000" dirty="0">
                <a:latin typeface="Helvetica" pitchFamily="2" charset="0"/>
              </a:rPr>
              <a:t>and </a:t>
            </a:r>
            <a:r>
              <a:rPr lang="en-US" sz="2000" b="1" dirty="0">
                <a:latin typeface="Helvetica" pitchFamily="2" charset="0"/>
              </a:rPr>
              <a:t>rotation</a:t>
            </a:r>
            <a:r>
              <a:rPr lang="en-US" sz="2000" dirty="0">
                <a:latin typeface="Helvetica" pitchFamily="2" charset="0"/>
              </a:rPr>
              <a:t> most effective</a:t>
            </a:r>
          </a:p>
          <a:p>
            <a:pPr marL="0" indent="0">
              <a:buNone/>
            </a:pPr>
            <a:endParaRPr lang="en-US" sz="20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2000" dirty="0">
                <a:latin typeface="Helvetica" pitchFamily="2" charset="0"/>
              </a:rPr>
              <a:t>Color jitter provides no benefit</a:t>
            </a:r>
            <a:br>
              <a:rPr lang="en-US" sz="2000" dirty="0">
                <a:latin typeface="Helvetica" pitchFamily="2" charset="0"/>
              </a:rPr>
            </a:br>
            <a:r>
              <a:rPr lang="en-US" sz="2000" dirty="0">
                <a:latin typeface="Helvetica" pitchFamily="2" charset="0"/>
              </a:rPr>
              <a:t>→ Task is </a:t>
            </a:r>
            <a:r>
              <a:rPr lang="en-US" sz="2000" i="1" dirty="0">
                <a:latin typeface="Helvetica" pitchFamily="2" charset="0"/>
              </a:rPr>
              <a:t>structural</a:t>
            </a:r>
            <a:r>
              <a:rPr lang="en-US" sz="2000" dirty="0">
                <a:latin typeface="Helvetica" pitchFamily="2" charset="0"/>
              </a:rPr>
              <a:t> rather then chromatic</a:t>
            </a:r>
          </a:p>
          <a:p>
            <a:pPr marL="0" indent="0">
              <a:buNone/>
            </a:pPr>
            <a:endParaRPr lang="en-US" sz="2000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2000" dirty="0">
                <a:latin typeface="Helvetica" pitchFamily="2" charset="0"/>
              </a:rPr>
              <a:t>Modest but consistent differences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B789B6-2774-9DBF-31BC-68E47C0CE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0933"/>
            <a:ext cx="5652303" cy="3140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0C2AE4-FDCD-0186-00BE-7FF07C64E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10362"/>
            <a:ext cx="5652303" cy="314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7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80AD-5838-0299-7F9E-EA6374E3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1BBF-9013-C053-388C-70452AC4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Helvetica" pitchFamily="2" charset="0"/>
              </a:rPr>
              <a:t>Lessons Learned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7CF455-3D79-C66E-9D78-A6797D48C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140667"/>
            <a:ext cx="12191999" cy="8906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latin typeface="Helvetica" pitchFamily="2" charset="0"/>
              </a:rPr>
              <a:t>Augmentation dampens but does not resolve overfitting</a:t>
            </a:r>
            <a:br>
              <a:rPr lang="en-US" sz="2000" dirty="0">
                <a:latin typeface="Helvetica" pitchFamily="2" charset="0"/>
              </a:rPr>
            </a:br>
            <a:r>
              <a:rPr lang="en-US" sz="2000" dirty="0">
                <a:latin typeface="Helvetica" pitchFamily="2" charset="0"/>
              </a:rPr>
              <a:t>→ Bottleneck is likely </a:t>
            </a:r>
            <a:r>
              <a:rPr lang="en-US" sz="2000" i="1" dirty="0">
                <a:latin typeface="Helvetica" pitchFamily="2" charset="0"/>
              </a:rPr>
              <a:t>small number of drivers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8B676-08A1-4461-517A-B71E253AA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504" y="2031348"/>
            <a:ext cx="5607425" cy="3504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E738AD-E886-0CE1-D3A1-8FE5DBF60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72" y="2031348"/>
            <a:ext cx="5643280" cy="3527050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0C6CD05-37A7-53FC-4B06-859C0B7C7119}"/>
              </a:ext>
            </a:extLst>
          </p:cNvPr>
          <p:cNvSpPr txBox="1">
            <a:spLocks/>
          </p:cNvSpPr>
          <p:nvPr/>
        </p:nvSpPr>
        <p:spPr>
          <a:xfrm>
            <a:off x="0" y="5717333"/>
            <a:ext cx="12191999" cy="401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latin typeface="Helvetica" pitchFamily="2" charset="0"/>
              </a:rPr>
              <a:t>Potential Next Steps:</a:t>
            </a:r>
            <a:endParaRPr lang="en-US" sz="2000" b="1" i="1" dirty="0">
              <a:latin typeface="Helvetica" pitchFamily="2" charset="0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A51AD342-ADC3-4BF9-FA7C-27E7879A7F3A}"/>
              </a:ext>
            </a:extLst>
          </p:cNvPr>
          <p:cNvSpPr txBox="1">
            <a:spLocks/>
          </p:cNvSpPr>
          <p:nvPr/>
        </p:nvSpPr>
        <p:spPr>
          <a:xfrm>
            <a:off x="3971363" y="6118412"/>
            <a:ext cx="4249272" cy="401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Helvetica" pitchFamily="2" charset="0"/>
              </a:rPr>
              <a:t>Longer training with early stopping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D5A75AB7-924A-E1E3-8B53-A08FA493404A}"/>
              </a:ext>
            </a:extLst>
          </p:cNvPr>
          <p:cNvSpPr txBox="1">
            <a:spLocks/>
          </p:cNvSpPr>
          <p:nvPr/>
        </p:nvSpPr>
        <p:spPr>
          <a:xfrm>
            <a:off x="407892" y="6118412"/>
            <a:ext cx="3563471" cy="401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Helvetica" pitchFamily="2" charset="0"/>
              </a:rPr>
              <a:t>Freezing model backbone</a:t>
            </a:r>
            <a:endParaRPr lang="en-US" sz="2000" i="1" dirty="0">
              <a:latin typeface="Helvetica" pitchFamily="2" charset="0"/>
            </a:endParaRP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CBCF27B-D545-F423-1594-83BCC008ADCE}"/>
              </a:ext>
            </a:extLst>
          </p:cNvPr>
          <p:cNvSpPr txBox="1">
            <a:spLocks/>
          </p:cNvSpPr>
          <p:nvPr/>
        </p:nvSpPr>
        <p:spPr>
          <a:xfrm>
            <a:off x="8220635" y="6118412"/>
            <a:ext cx="3563471" cy="401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Helvetica" pitchFamily="2" charset="0"/>
              </a:rPr>
              <a:t>More folds or repeated CV</a:t>
            </a:r>
            <a:endParaRPr lang="en-US" sz="2000" i="1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00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98</Words>
  <Application>Microsoft Macintosh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Helvetica</vt:lpstr>
      <vt:lpstr>Office Theme</vt:lpstr>
      <vt:lpstr>Combatting Driver-Specific Overfitting  with Image Augmentation</vt:lpstr>
      <vt:lpstr>Our Approach</vt:lpstr>
      <vt:lpstr>Results</vt:lpstr>
      <vt:lpstr>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Sander Engel Thilo</dc:creator>
  <cp:lastModifiedBy>Sander Engel Thilo</cp:lastModifiedBy>
  <cp:revision>1</cp:revision>
  <dcterms:created xsi:type="dcterms:W3CDTF">2026-05-06T17:40:04Z</dcterms:created>
  <dcterms:modified xsi:type="dcterms:W3CDTF">2026-05-06T18:07:16Z</dcterms:modified>
</cp:coreProperties>
</file>